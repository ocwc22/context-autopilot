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0292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78BFA"/>
                </a:solidFill>
                <a:latin typeface="Helvetica Neue"/>
              </a:rPr>
              <a:t>BETA FUND × EVERMIND  ·  NEXT-GEN INFRASTRUCTURE &amp;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6070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8EAF2"/>
                </a:solidFill>
                <a:latin typeface="Helvetica Neue"/>
              </a:rPr>
              <a:t>Personal Coding Model Autopilot</a:t>
            </a:r>
          </a:p>
          <a:p>
            <a:pPr algn="l">
              <a:spcAft>
                <a:spcPts val="600"/>
              </a:spcAft>
            </a:pPr>
            <a:r>
              <a:rPr sz="1700" b="1">
                <a:solidFill>
                  <a:srgbClr val="2DD4A7"/>
                </a:solidFill>
                <a:latin typeface="Helvetica Neue"/>
              </a:rPr>
              <a:t>William Chen · Touchdown Labs — vendor-neutral inference-optimization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607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8EAF2"/>
                </a:solidFill>
                <a:latin typeface="Helvetica Neue"/>
              </a:rPr>
              <a:t>What I'm building: a local-first coding-agent stack — a $0 model that already knows your repo, plus a personal coding model distilled to your codebase and style.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20440"/>
            <a:ext cx="5212080" cy="21945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182880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7849"/>
                </a:solidFill>
                <a:latin typeface="Helvetica Neue"/>
              </a:rPr>
              <a:t>The problem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Helvetica Neue"/>
              </a:rPr>
              <a:t>Claude Code re-reads your repo every session — you pay frontier prices to rediscover structure you already have (≈90K tokens to reload a 359 KB repo, every time).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520440"/>
            <a:ext cx="5212080" cy="21945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tIns="201168" rIns="182880"/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DD4A7"/>
                </a:solidFill>
                <a:latin typeface="Helvetica Neue"/>
              </a:rPr>
              <a:t>The solution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8EAF2"/>
                </a:solidFill>
                <a:latin typeface="Helvetica Neue"/>
              </a:rPr>
              <a:t>Keep a live local map (SKILL.md + DAG) and a small MLX model for the cheap work; escalate to the frontier only for the hard step — ~99% fewer tokens, same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607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9AA0B6"/>
                </a:solidFill>
                <a:latin typeface="Helvetica Neue"/>
              </a:rPr>
              <a:t>github.com/OCWC22/personal-coding-autopilot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2/7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FULL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6868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E8EAF2"/>
                </a:solidFill>
                <a:latin typeface="Helvetica Neue"/>
              </a:rPr>
              <a:t>How SFT, RL, local AI &amp; MLX fit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81328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A0B6"/>
                </a:solidFill>
                <a:latin typeface="Helvetica Neue"/>
              </a:rPr>
              <a:t>Goal: cut frontier-model calls &amp; cost while preserving task success — a coding model that learns your repo and style from your own traces.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OFFLINE — build your personal model (cheap, on-device)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Your traces + repo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Claude Code / Codex sessions, accepted diffs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2895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757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4AA8FF"/>
                </a:solidFill>
                <a:latin typeface="Helvetica Neue"/>
              </a:rPr>
              <a:t>SFT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distill GLM-5.1 (teacher) →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650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Helvetica Neue"/>
              </a:rPr>
              <a:t>RL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verifiable rewards (GRPO): tests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6810" y="301752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55430" y="2606040"/>
            <a:ext cx="2457450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7849"/>
                </a:solidFill>
                <a:latin typeface="Helvetica Neue"/>
              </a:rPr>
              <a:t>MLX model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personal coder · 16 GB Mac · 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ONLINE — every task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2DD4A7"/>
                </a:solidFill>
                <a:latin typeface="Helvetica Neue"/>
              </a:rPr>
              <a:t>Coding task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question / fix / 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5260" y="49377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73879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4AA8FF"/>
                </a:solidFill>
                <a:latin typeface="Helvetica Neue"/>
              </a:rPr>
              <a:t>Local context + subagents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$0 DAG / SKILL.md + RLM — runs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499" y="493776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9AA0B6"/>
                </a:solidFill>
                <a:latin typeface="Helvetica Neu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99119" y="4526280"/>
            <a:ext cx="3413759" cy="118872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A78BFA"/>
                </a:solidFill>
                <a:latin typeface="Helvetica Neue"/>
              </a:rPr>
              <a:t>Frontier only when hard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E8EAF2"/>
                </a:solidFill>
                <a:latin typeface="Helvetica Neue"/>
              </a:rPr>
              <a:t>escalate to Claude / Codex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9AA0B6"/>
                </a:solidFill>
                <a:latin typeface="Helvetica Neue"/>
              </a:rPr>
              <a:t>Substrate:  EverMind = long-term memory   ·   Butterbase = state / backend   ·   eval harness = the proof (−98.7% tokens)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3/7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USE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E8EAF2"/>
                </a:solidFill>
                <a:latin typeface="Helvetica Neue"/>
              </a:rPr>
              <a:t>You, on a real repo, all 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10972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Solo founder / small team living in Claude Code or Codex on one codebase.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Asking codebase questions, fixing tests, scaffolding, refactoring — dozens of times a day.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Each ask re-pays for repo discovery. The bill compounds outside the model call.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E8EAF2"/>
                </a:solidFill>
                <a:latin typeface="Helvetica Neue"/>
              </a:rPr>
              <a:t>•  You want the agent to already know your files, conventions, and prior decisions.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4/7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A $0 local map Claude reads instead of the whole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1">
                <a:solidFill>
                  <a:srgbClr val="2DD4A7"/>
                </a:solidFill>
                <a:latin typeface="Helvetica Neue"/>
              </a:rPr>
              <a:t>SKILL.md + DAG  —  </a:t>
            </a:r>
            <a:r>
              <a:rPr sz="1700">
                <a:solidFill>
                  <a:srgbClr val="E8EAF2"/>
                </a:solidFill>
              </a:rPr>
              <a:t>commit-versioned: every file, every function, the call graph — refreshed on each change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4AA8FF"/>
                </a:solidFill>
                <a:latin typeface="Helvetica Neue"/>
              </a:rPr>
              <a:t>Selective retrieval  —  </a:t>
            </a:r>
            <a:r>
              <a:rPr sz="1700">
                <a:solidFill>
                  <a:srgbClr val="E8EAF2"/>
                </a:solidFill>
              </a:rPr>
              <a:t>send only the relevant slice, compressed (8.8× on a real query)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A78BFA"/>
                </a:solidFill>
                <a:latin typeface="Helvetica Neue"/>
              </a:rPr>
              <a:t>$0 + local  —  </a:t>
            </a:r>
            <a:r>
              <a:rPr sz="1700">
                <a:solidFill>
                  <a:srgbClr val="E8EAF2"/>
                </a:solidFill>
              </a:rPr>
              <a:t>the index runs on your machine for nothing; frontier is used only for the hard step</a:t>
            </a:r>
          </a:p>
          <a:p>
            <a:pPr algn="l">
              <a:spcAft>
                <a:spcPts val="1400"/>
              </a:spcAft>
            </a:pPr>
            <a:r>
              <a:rPr sz="1900" b="1">
                <a:solidFill>
                  <a:srgbClr val="FF7849"/>
                </a:solidFill>
                <a:latin typeface="Helvetica Neue"/>
              </a:rPr>
              <a:t>Sponsors  —  </a:t>
            </a:r>
            <a:r>
              <a:rPr sz="1700">
                <a:solidFill>
                  <a:srgbClr val="E8EAF2"/>
                </a:solidFill>
              </a:rPr>
              <a:t>EverMind = long-term memory (prior decisions) · Butterbase = state/backend + judging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5/7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FLOW  (what I'll show live)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8EAF2"/>
                </a:solidFill>
                <a:latin typeface="Helvetica Neue"/>
              </a:rPr>
              <a:t>Watch the token meter 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6424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>
                <a:solidFill>
                  <a:srgbClr val="FF7849"/>
                </a:solidFill>
                <a:latin typeface="Helvetica Neue"/>
              </a:rPr>
              <a:t>1.  </a:t>
            </a:r>
            <a:r>
              <a:rPr sz="1800">
                <a:solidFill>
                  <a:srgbClr val="E8EAF2"/>
                </a:solidFill>
              </a:rPr>
              <a:t>Ask a codebase question the normal way → Claude Code explores files (big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2DD4A7"/>
                </a:solidFill>
                <a:latin typeface="Helvetica Neue"/>
              </a:rPr>
              <a:t>2.  </a:t>
            </a:r>
            <a:r>
              <a:rPr sz="1800">
                <a:solidFill>
                  <a:srgbClr val="E8EAF2"/>
                </a:solidFill>
              </a:rPr>
              <a:t>Run  `autopilot index`  → open .autopilot/SKILL.md + ARCHITECTURE.md (the DAG).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4AA8FF"/>
                </a:solidFill>
                <a:latin typeface="Helvetica Neue"/>
              </a:rPr>
              <a:t>3.  </a:t>
            </a:r>
            <a:r>
              <a:rPr sz="1800">
                <a:solidFill>
                  <a:srgbClr val="E8EAF2"/>
                </a:solidFill>
              </a:rPr>
              <a:t>Ask again with that saved context → answer from the right slice (tiny token count).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A78BFA"/>
                </a:solidFill>
                <a:latin typeface="Helvetica Neue"/>
              </a:rPr>
              <a:t>4.  </a:t>
            </a:r>
            <a:r>
              <a:rPr sz="1800">
                <a:solidFill>
                  <a:srgbClr val="E8EAF2"/>
                </a:solidFill>
              </a:rPr>
              <a:t>Compare:  `autopilot eval`  → 11,947 → 299 tokens, −98.7%, tests still pass.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6/7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PROOF  ·  autopilot eval (measured)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E8EAF2"/>
                </a:solidFill>
                <a:latin typeface="Helvetica Neue"/>
              </a:rPr>
              <a:t>Same task. Same result. 98.7% fewer tokens.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2DD4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2DD4A7"/>
                </a:solidFill>
                <a:latin typeface="Helvetica Neue"/>
              </a:rPr>
              <a:t>−98.7%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tokens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4AA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4AA8FF"/>
                </a:solidFill>
                <a:latin typeface="Helvetica Neue"/>
              </a:rPr>
              <a:t>−98%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A78BFA"/>
                </a:solidFill>
                <a:latin typeface="Helvetica Neue"/>
              </a:rPr>
              <a:t>−94%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cost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920240"/>
            <a:ext cx="2697480" cy="1737360"/>
          </a:xfrm>
          <a:prstGeom prst="roundRect">
            <a:avLst/>
          </a:prstGeom>
          <a:solidFill>
            <a:srgbClr val="10131E"/>
          </a:solidFill>
          <a:ln w="15875">
            <a:solidFill>
              <a:srgbClr val="FF78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200"/>
              </a:spcAft>
            </a:pPr>
            <a:r>
              <a:rPr sz="4000" b="1">
                <a:solidFill>
                  <a:srgbClr val="FF7849"/>
                </a:solidFill>
                <a:latin typeface="Helvetica Neue"/>
              </a:rPr>
              <a:t>+0.32</a:t>
            </a:r>
          </a:p>
          <a:p>
            <a:pPr algn="ctr">
              <a:spcAft>
                <a:spcPts val="6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retrieval 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1106424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8EAF2"/>
                </a:solidFill>
                <a:latin typeface="Helvetica Neue"/>
              </a:rPr>
              <a:t>11,947 → 299 tokens · 1 frontier call avoided · task success preserved (tests pass)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9AA0B6"/>
                </a:solidFill>
                <a:latin typeface="Helvetica Neue"/>
              </a:rPr>
              <a:t>Live now: Butterbase app app_b197i2548pk2 (real rows) · EverMind memory written · 27/27 tests.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2DD4A7"/>
                </a:solidFill>
                <a:latin typeface="Helvetica Neue"/>
              </a:rPr>
              <a:t>Reproduce on stage:  autopilot index  ·  autopilot eval  ·  bash demo/run_demo.sh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C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AA0B6"/>
                </a:solidFill>
              </a:rPr>
              <a:t>EverMind + Butterbase: LIVE  ·  app_b197i2548pk2  ·  build0530</a:t>
            </a:r>
            <a:r>
              <a:rPr sz="1000">
                <a:solidFill>
                  <a:srgbClr val="9AA0B6"/>
                </a:solidFill>
              </a:rPr>
              <a:t>        7/7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DD4A7"/>
                </a:solidFill>
                <a:latin typeface="Helvetica Neue"/>
              </a:rPr>
              <a:t>DEMO  ·  the token drop in 30s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E8EAF2"/>
                </a:solidFill>
                <a:latin typeface="Helvetica Neue"/>
              </a:rPr>
              <a:t>Same task, two ways — watch tokens go 11,947 → 299</a:t>
            </a:r>
          </a:p>
        </p:txBody>
      </p:sp>
      <p:pic>
        <p:nvPicPr>
          <p:cNvPr id="7" name="autopilot-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06727" y="1600200"/>
            <a:ext cx="8778240" cy="49377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