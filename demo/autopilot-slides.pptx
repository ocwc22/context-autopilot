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>
                <a:solidFill>
                  <a:srgbClr val="E8EAF2"/>
                </a:solidFill>
                <a:latin typeface="Helvetica Neue"/>
              </a:rPr>
              <a:t>Personal Coding Model Autopilot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9AA0B6"/>
                </a:solidFill>
                <a:latin typeface="Helvetica Neue"/>
              </a:rPr>
              <a:t>A $0 local repo-context model + skills + memory + subagents that cuts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9AA0B6"/>
                </a:solidFill>
                <a:latin typeface="Helvetica Neue"/>
              </a:rPr>
              <a:t>frontier token usage, cost, and latency — with an eval harness that proves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66344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DD4A7"/>
                </a:solidFill>
                <a:latin typeface="Helvetica Neue"/>
              </a:rPr>
              <a:t>Touchdown Labs   ·   Beta Fund × EverMind Hackathon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0B6"/>
                </a:solidFill>
                <a:latin typeface="Helvetica Neue"/>
              </a:rPr>
              <a:t>Track: Next-Gen Infrastructure &amp; Context   ·   github.com/OCWC22/personal-coding-autopilot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914400"/>
            <a:ext cx="2377440" cy="457200"/>
          </a:xfrm>
          <a:prstGeom prst="roundRect">
            <a:avLst/>
          </a:prstGeom>
          <a:solidFill>
            <a:srgbClr val="0A0C14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A78BFA"/>
                </a:solidFill>
              </a:rPr>
              <a:t>INFERENCE ORCHESTRATION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DD4A7"/>
                </a:solidFill>
                <a:latin typeface="Helvetica Neue"/>
              </a:rPr>
              <a:t>The problem</a:t>
            </a:r>
          </a:p>
          <a:p>
            <a:pPr algn="l">
              <a:spcAft>
                <a:spcPts val="600"/>
              </a:spcAft>
            </a:pPr>
            <a:r>
              <a:rPr sz="3400" b="1">
                <a:solidFill>
                  <a:srgbClr val="E8EAF2"/>
                </a:solidFill>
                <a:latin typeface="Helvetica Neue"/>
              </a:rPr>
              <a:t>You pay frontier prices to re-discover your repo every session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E8EAF2"/>
                </a:solidFill>
                <a:latin typeface="Helvetica Neue"/>
              </a:rPr>
              <a:t>•  Coding agents (Claude Code / Codex) re-index the codebase and re-send context every turn.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8EAF2"/>
                </a:solidFill>
                <a:latin typeface="Helvetica Neue"/>
              </a:rPr>
              <a:t>•  One request fans into dozens of hidden calls: plan, search, memory, file reads, checks, retries.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8EAF2"/>
                </a:solidFill>
                <a:latin typeface="Helvetica Neue"/>
              </a:rPr>
              <a:t>•  On metered plans (the Jun 2026 Agent-SDK credit split), that quietly becomes a real API bill.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8EAF2"/>
                </a:solidFill>
                <a:latin typeface="Helvetica Neue"/>
              </a:rPr>
              <a:t>•  The waste isn't the model — it's repeated context reconstruction. An orchestration problem.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21208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A78BFA"/>
                </a:solidFill>
                <a:latin typeface="Helvetica Neue"/>
              </a:rPr>
              <a:t>Team — Touchdown Labs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AA0B6"/>
                </a:solidFill>
                <a:latin typeface="Helvetica Neue"/>
              </a:rPr>
              <a:t>Vendor-neutral inference-optimization research. Problem-fit: this is our daily thesis.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DD4A7"/>
                </a:solidFill>
                <a:latin typeface="Helvetica Neue"/>
              </a:rPr>
              <a:t>What we built</a:t>
            </a:r>
          </a:p>
          <a:p>
            <a:pPr algn="l">
              <a:spcAft>
                <a:spcPts val="600"/>
              </a:spcAft>
            </a:pPr>
            <a:r>
              <a:rPr sz="3000" b="1">
                <a:solidFill>
                  <a:srgbClr val="E8EAF2"/>
                </a:solidFill>
                <a:latin typeface="Helvetica Neue"/>
              </a:rPr>
              <a:t>Local-first agent stack: cheap work local, frontier only for the hard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1">
                <a:solidFill>
                  <a:srgbClr val="2DD4A7"/>
                </a:solidFill>
                <a:latin typeface="Helvetica Neue"/>
              </a:rPr>
              <a:t>$0 local indexer  —  </a:t>
            </a:r>
            <a:r>
              <a:rPr sz="1800">
                <a:solidFill>
                  <a:srgbClr val="E8EAF2"/>
                </a:solidFill>
              </a:rPr>
              <a:t>commit-versioned code DAG → SKILL.md bundle, refreshed on every change</a:t>
            </a:r>
          </a:p>
          <a:p>
            <a:pPr algn="l">
              <a:spcAft>
                <a:spcPts val="1400"/>
              </a:spcAft>
            </a:pPr>
            <a:r>
              <a:rPr sz="2000" b="1">
                <a:solidFill>
                  <a:srgbClr val="4AA8FF"/>
                </a:solidFill>
                <a:latin typeface="Helvetica Neue"/>
              </a:rPr>
              <a:t>Selective retrieval  —  </a:t>
            </a:r>
            <a:r>
              <a:rPr sz="1800">
                <a:solidFill>
                  <a:srgbClr val="E8EAF2"/>
                </a:solidFill>
              </a:rPr>
              <a:t>Repoformer gate + GraphCoder-style symbol graph + LLavaCode compression</a:t>
            </a:r>
          </a:p>
          <a:p>
            <a:pPr algn="l">
              <a:spcAft>
                <a:spcPts val="1400"/>
              </a:spcAft>
            </a:pPr>
            <a:r>
              <a:rPr sz="2000" b="1">
                <a:solidFill>
                  <a:srgbClr val="A78BFA"/>
                </a:solidFill>
                <a:latin typeface="Helvetica Neue"/>
              </a:rPr>
              <a:t>Local subagents + RLM  —  </a:t>
            </a:r>
            <a:r>
              <a:rPr sz="1800">
                <a:solidFill>
                  <a:srgbClr val="E8EAF2"/>
                </a:solidFill>
              </a:rPr>
              <a:t>routing, search, code checks, summarize — escalate only when needed</a:t>
            </a:r>
          </a:p>
          <a:p>
            <a:pPr algn="l">
              <a:spcAft>
                <a:spcPts val="1400"/>
              </a:spcAft>
            </a:pPr>
            <a:r>
              <a:rPr sz="2000" b="1">
                <a:solidFill>
                  <a:srgbClr val="FF7849"/>
                </a:solidFill>
                <a:latin typeface="Helvetica Neue"/>
              </a:rPr>
              <a:t>Eval harness  —  </a:t>
            </a:r>
            <a:r>
              <a:rPr sz="1800">
                <a:solidFill>
                  <a:srgbClr val="E8EAF2"/>
                </a:solidFill>
              </a:rPr>
              <a:t>measures tokens / time / accuracy vs normal Claude Code (the real product)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30352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9AA0B6"/>
                </a:solidFill>
                <a:latin typeface="Helvetica Neue"/>
              </a:rPr>
              <a:t>Sponsors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DD4A7"/>
                </a:solidFill>
                <a:latin typeface="Helvetica Neue"/>
              </a:rPr>
              <a:t>EverMind/EverOS = long-term agent memory (built on it).   </a:t>
            </a:r>
            <a:r>
              <a:rPr sz="1700">
                <a:solidFill>
                  <a:srgbClr val="4AA8FF"/>
                </a:solidFill>
              </a:rPr>
              <a:t>Butterbase = backend + judging surface (build0530).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DD4A7"/>
                </a:solidFill>
                <a:latin typeface="Helvetica Neue"/>
              </a:rPr>
              <a:t>The proof  ·  autopilot eval (measured)</a:t>
            </a:r>
          </a:p>
          <a:p>
            <a:pPr algn="l">
              <a:spcAft>
                <a:spcPts val="600"/>
              </a:spcAft>
            </a:pPr>
            <a:r>
              <a:rPr sz="3000" b="1">
                <a:solidFill>
                  <a:srgbClr val="E8EAF2"/>
                </a:solidFill>
                <a:latin typeface="Helvetica Neue"/>
              </a:rPr>
              <a:t>local-first (indexed)  vs  normal Claude Code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20240"/>
            <a:ext cx="2606040" cy="1737360"/>
          </a:xfrm>
          <a:prstGeom prst="roundRect">
            <a:avLst/>
          </a:prstGeom>
          <a:solidFill>
            <a:srgbClr val="10131E"/>
          </a:solidFill>
          <a:ln w="19050">
            <a:solidFill>
              <a:srgbClr val="2DD4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200"/>
              </a:spcAft>
            </a:pPr>
            <a:r>
              <a:rPr sz="4000" b="1">
                <a:solidFill>
                  <a:srgbClr val="2DD4A7"/>
                </a:solidFill>
                <a:latin typeface="Helvetica Neue"/>
              </a:rPr>
              <a:t>−98.7%</a:t>
            </a:r>
          </a:p>
          <a:p>
            <a:pPr algn="ctr">
              <a:spcAft>
                <a:spcPts val="600"/>
              </a:spcAft>
            </a:pPr>
            <a:r>
              <a:rPr sz="1600" b="0">
                <a:solidFill>
                  <a:srgbClr val="9AA0B6"/>
                </a:solidFill>
                <a:latin typeface="Helvetica Neue"/>
              </a:rPr>
              <a:t>tokens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66160" y="1920240"/>
            <a:ext cx="2606040" cy="1737360"/>
          </a:xfrm>
          <a:prstGeom prst="roundRect">
            <a:avLst/>
          </a:prstGeom>
          <a:solidFill>
            <a:srgbClr val="10131E"/>
          </a:solidFill>
          <a:ln w="19050">
            <a:solidFill>
              <a:srgbClr val="4AA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200"/>
              </a:spcAft>
            </a:pPr>
            <a:r>
              <a:rPr sz="4000" b="1">
                <a:solidFill>
                  <a:srgbClr val="4AA8FF"/>
                </a:solidFill>
                <a:latin typeface="Helvetica Neue"/>
              </a:rPr>
              <a:t>−98.0%</a:t>
            </a:r>
          </a:p>
          <a:p>
            <a:pPr algn="ctr">
              <a:spcAft>
                <a:spcPts val="600"/>
              </a:spcAft>
            </a:pPr>
            <a:r>
              <a:rPr sz="1600" b="0">
                <a:solidFill>
                  <a:srgbClr val="9AA0B6"/>
                </a:solidFill>
                <a:latin typeface="Helvetica Neue"/>
              </a:rPr>
              <a:t>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920240"/>
            <a:ext cx="2606040" cy="1737360"/>
          </a:xfrm>
          <a:prstGeom prst="roundRect">
            <a:avLst/>
          </a:prstGeom>
          <a:solidFill>
            <a:srgbClr val="10131E"/>
          </a:solidFill>
          <a:ln w="190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200"/>
              </a:spcAft>
            </a:pPr>
            <a:r>
              <a:rPr sz="4000" b="1">
                <a:solidFill>
                  <a:srgbClr val="A78BFA"/>
                </a:solidFill>
                <a:latin typeface="Helvetica Neue"/>
              </a:rPr>
              <a:t>−93.9%</a:t>
            </a:r>
          </a:p>
          <a:p>
            <a:pPr algn="ctr">
              <a:spcAft>
                <a:spcPts val="600"/>
              </a:spcAft>
            </a:pPr>
            <a:r>
              <a:rPr sz="1600" b="0">
                <a:solidFill>
                  <a:srgbClr val="9AA0B6"/>
                </a:solidFill>
                <a:latin typeface="Helvetica Neue"/>
              </a:rPr>
              <a:t>cost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560" y="1920240"/>
            <a:ext cx="2606040" cy="1737360"/>
          </a:xfrm>
          <a:prstGeom prst="roundRect">
            <a:avLst/>
          </a:prstGeom>
          <a:solidFill>
            <a:srgbClr val="10131E"/>
          </a:solidFill>
          <a:ln w="19050">
            <a:solidFill>
              <a:srgbClr val="FF78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200"/>
              </a:spcAft>
            </a:pPr>
            <a:r>
              <a:rPr sz="4000" b="1">
                <a:solidFill>
                  <a:srgbClr val="FF7849"/>
                </a:solidFill>
                <a:latin typeface="Helvetica Neue"/>
              </a:rPr>
              <a:t>+0.32</a:t>
            </a:r>
          </a:p>
          <a:p>
            <a:pPr algn="ctr">
              <a:spcAft>
                <a:spcPts val="600"/>
              </a:spcAft>
            </a:pPr>
            <a:r>
              <a:rPr sz="1600" b="0">
                <a:solidFill>
                  <a:srgbClr val="9AA0B6"/>
                </a:solidFill>
                <a:latin typeface="Helvetica Neue"/>
              </a:rPr>
              <a:t>retrieval F1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023360"/>
            <a:ext cx="105156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E8EAF2"/>
                </a:solidFill>
                <a:latin typeface="Helvetica Neue"/>
              </a:rPr>
              <a:t>1 frontier call avoided  ·  task success preserved (tests pass)  ·  retrieval recall 1.0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9AA0B6"/>
                </a:solidFill>
                <a:latin typeface="Helvetica Neue"/>
              </a:rPr>
              <a:t>Baseline dumps the whole 11,947-token repo; local-first sends ~150 tokens of the right context.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9AA0B6"/>
                </a:solidFill>
                <a:latin typeface="Helvetica Neue"/>
              </a:rPr>
              <a:t>Live: EverMind memory written (real API). $0 local index builds in ~300ms. 27/27 tests pass.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