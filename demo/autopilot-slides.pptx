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78BFA"/>
                </a:solidFill>
                <a:latin typeface="Helvetica Neue"/>
              </a:rPr>
              <a:t>BETA FUND × EVERMIND  ·  NEXT-GEN INFRASTRUCTURE &amp;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9848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E8EAF2"/>
                </a:solidFill>
                <a:latin typeface="Helvetica Neue"/>
              </a:rPr>
              <a:t>Stop paying Claude to re-read your repo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9AA0B6"/>
                </a:solidFill>
                <a:latin typeface="Helvetica Neue"/>
              </a:rPr>
              <a:t>A $0 local model keeps a live map of your codebase (SKILL.md + DAG) so Claude Code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9AA0B6"/>
                </a:solidFill>
                <a:latin typeface="Helvetica Neue"/>
              </a:rPr>
              <a:t>reads the saved context instead of re-exploring — ~99% fewer tokens, same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463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DD4A7"/>
                </a:solidFill>
                <a:latin typeface="Helvetica Neue"/>
              </a:rPr>
              <a:t>Touchdown Labs  ·  github.com/OCWC22/personal-coding-autopilot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2/7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THE PAIN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AF2"/>
                </a:solidFill>
                <a:latin typeface="Helvetica Neue"/>
              </a:rPr>
              <a:t>Every session, Claude Code rediscovers your repo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5394960" cy="338328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28600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7849"/>
                </a:solidFill>
                <a:latin typeface="Helvetica Neue"/>
              </a:rPr>
              <a:t>Normal Claude Code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Helvetica Neue"/>
              </a:rPr>
              <a:t>•  grep → read → read → read to relearn structure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Helvetica Neue"/>
              </a:rPr>
              <a:t>•  a 359 KB repo ≈ 90,000 tokens to reload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Helvetica Neue"/>
              </a:rPr>
              <a:t>•  repeated every session, every task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Helvetica Neue"/>
              </a:rPr>
              <a:t>•  metered/agent billing → frontier prices for repo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394960" cy="338328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28600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DD4A7"/>
                </a:solidFill>
                <a:latin typeface="Helvetica Neue"/>
              </a:rPr>
              <a:t>The waste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E8EAF2"/>
                </a:solidFill>
                <a:latin typeface="Helvetica Neue"/>
              </a:rPr>
              <a:t>It's not the model — it's re-loading context you already have.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E8EAF2"/>
                </a:solidFill>
                <a:latin typeface="Helvetica Neue"/>
              </a:rPr>
              <a:t>An inference-orchestration problem, not a code-model problem.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0B6"/>
                </a:solidFill>
                <a:latin typeface="Helvetica Neue"/>
              </a:rPr>
              <a:t>Backed by Repoformer, GraphCoder, LLavaCode, ContextBench.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3/7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USE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AF2"/>
                </a:solidFill>
                <a:latin typeface="Helvetica Neue"/>
              </a:rPr>
              <a:t>You, on a real repo, all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109728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E8EAF2"/>
                </a:solidFill>
                <a:latin typeface="Helvetica Neue"/>
              </a:rPr>
              <a:t>•  Solo founder / small team living in Claude Code or Codex on one codebase.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E8EAF2"/>
                </a:solidFill>
                <a:latin typeface="Helvetica Neue"/>
              </a:rPr>
              <a:t>•  Asking codebase questions, fixing tests, scaffolding, refactoring — dozens of times a day.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E8EAF2"/>
                </a:solidFill>
                <a:latin typeface="Helvetica Neue"/>
              </a:rPr>
              <a:t>•  Each ask re-pays for repo discovery. The bill compounds outside the model call.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E8EAF2"/>
                </a:solidFill>
                <a:latin typeface="Helvetica Neue"/>
              </a:rPr>
              <a:t>•  You want the agent to already know your files, conventions, and prior decisions.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4/7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THE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8EAF2"/>
                </a:solidFill>
                <a:latin typeface="Helvetica Neue"/>
              </a:rPr>
              <a:t>A $0 local map Claude reads instead of the whole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6424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1">
                <a:solidFill>
                  <a:srgbClr val="2DD4A7"/>
                </a:solidFill>
                <a:latin typeface="Helvetica Neue"/>
              </a:rPr>
              <a:t>SKILL.md + DAG  —  </a:t>
            </a:r>
            <a:r>
              <a:rPr sz="1700">
                <a:solidFill>
                  <a:srgbClr val="E8EAF2"/>
                </a:solidFill>
              </a:rPr>
              <a:t>commit-versioned: every file, every function, the call graph — refreshed on each change</a:t>
            </a:r>
          </a:p>
          <a:p>
            <a:pPr algn="l">
              <a:spcAft>
                <a:spcPts val="1400"/>
              </a:spcAft>
            </a:pPr>
            <a:r>
              <a:rPr sz="1900" b="1">
                <a:solidFill>
                  <a:srgbClr val="4AA8FF"/>
                </a:solidFill>
                <a:latin typeface="Helvetica Neue"/>
              </a:rPr>
              <a:t>Selective retrieval  —  </a:t>
            </a:r>
            <a:r>
              <a:rPr sz="1700">
                <a:solidFill>
                  <a:srgbClr val="E8EAF2"/>
                </a:solidFill>
              </a:rPr>
              <a:t>send only the relevant slice, compressed (8.8× on a real query)</a:t>
            </a:r>
          </a:p>
          <a:p>
            <a:pPr algn="l">
              <a:spcAft>
                <a:spcPts val="1400"/>
              </a:spcAft>
            </a:pPr>
            <a:r>
              <a:rPr sz="1900" b="1">
                <a:solidFill>
                  <a:srgbClr val="A78BFA"/>
                </a:solidFill>
                <a:latin typeface="Helvetica Neue"/>
              </a:rPr>
              <a:t>$0 + local  —  </a:t>
            </a:r>
            <a:r>
              <a:rPr sz="1700">
                <a:solidFill>
                  <a:srgbClr val="E8EAF2"/>
                </a:solidFill>
              </a:rPr>
              <a:t>the index runs on your machine for nothing; frontier is used only for the hard step</a:t>
            </a:r>
          </a:p>
          <a:p>
            <a:pPr algn="l">
              <a:spcAft>
                <a:spcPts val="1400"/>
              </a:spcAft>
            </a:pPr>
            <a:r>
              <a:rPr sz="1900" b="1">
                <a:solidFill>
                  <a:srgbClr val="FF7849"/>
                </a:solidFill>
                <a:latin typeface="Helvetica Neue"/>
              </a:rPr>
              <a:t>Sponsors  —  </a:t>
            </a:r>
            <a:r>
              <a:rPr sz="1700">
                <a:solidFill>
                  <a:srgbClr val="E8EAF2"/>
                </a:solidFill>
              </a:rPr>
              <a:t>EverMind = long-term memory (prior decisions) · Butterbase = state/backend + judging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5/7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DEMO FLOW  (what I'll show live)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8EAF2"/>
                </a:solidFill>
                <a:latin typeface="Helvetica Neue"/>
              </a:rPr>
              <a:t>Watch the token meter drop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642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>
                <a:solidFill>
                  <a:srgbClr val="FF7849"/>
                </a:solidFill>
                <a:latin typeface="Helvetica Neue"/>
              </a:rPr>
              <a:t>1.  </a:t>
            </a:r>
            <a:r>
              <a:rPr sz="1800">
                <a:solidFill>
                  <a:srgbClr val="E8EAF2"/>
                </a:solidFill>
              </a:rPr>
              <a:t>Ask a codebase question the normal way → Claude Code explores files (big token count).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2DD4A7"/>
                </a:solidFill>
                <a:latin typeface="Helvetica Neue"/>
              </a:rPr>
              <a:t>2.  </a:t>
            </a:r>
            <a:r>
              <a:rPr sz="1800">
                <a:solidFill>
                  <a:srgbClr val="E8EAF2"/>
                </a:solidFill>
              </a:rPr>
              <a:t>Run  `autopilot index`  → open .autopilot/SKILL.md + ARCHITECTURE.md (the DAG).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4AA8FF"/>
                </a:solidFill>
                <a:latin typeface="Helvetica Neue"/>
              </a:rPr>
              <a:t>3.  </a:t>
            </a:r>
            <a:r>
              <a:rPr sz="1800">
                <a:solidFill>
                  <a:srgbClr val="E8EAF2"/>
                </a:solidFill>
              </a:rPr>
              <a:t>Ask again with that saved context → answer from the right slice (tiny token count).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A78BFA"/>
                </a:solidFill>
                <a:latin typeface="Helvetica Neue"/>
              </a:rPr>
              <a:t>4.  </a:t>
            </a:r>
            <a:r>
              <a:rPr sz="1800">
                <a:solidFill>
                  <a:srgbClr val="E8EAF2"/>
                </a:solidFill>
              </a:rPr>
              <a:t>Compare:  `autopilot eval`  → 11,947 → 299 tokens, −98.7%, tests still pass.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6/7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PROOF  ·  autopilot eval (measured)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8EAF2"/>
                </a:solidFill>
                <a:latin typeface="Helvetica Neue"/>
              </a:rPr>
              <a:t>Same task. Same result. 98.7% fewer tokens.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2DD4A7"/>
                </a:solidFill>
                <a:latin typeface="Helvetica Neue"/>
              </a:rPr>
              <a:t>−98.7%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tokens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4AA8FF"/>
                </a:solidFill>
                <a:latin typeface="Helvetica Neue"/>
              </a:rPr>
              <a:t>−98%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A78BFA"/>
                </a:solidFill>
                <a:latin typeface="Helvetica Neue"/>
              </a:rPr>
              <a:t>−94%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cost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FF7849"/>
                </a:solidFill>
                <a:latin typeface="Helvetica Neue"/>
              </a:rPr>
              <a:t>+0.32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retrieval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E8EAF2"/>
                </a:solidFill>
                <a:latin typeface="Helvetica Neue"/>
              </a:rPr>
              <a:t>11,947 → 299 tokens · 1 frontier call avoided · task success preserved (tests pass)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Live now: Butterbase app app_b197i2548pk2 (real rows) · EverMind memory written · 27/27 tests.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DD4A7"/>
                </a:solidFill>
                <a:latin typeface="Helvetica Neue"/>
              </a:rPr>
              <a:t>Reproduce on stage:  autopilot index  ·  autopilot eval  ·  bash demo/run_demo.sh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7/7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DEMO  ·  the token drop in 30s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8EAF2"/>
                </a:solidFill>
                <a:latin typeface="Helvetica Neue"/>
              </a:rPr>
              <a:t>Same task, two ways — watch tokens go 11,947 → 299</a:t>
            </a:r>
          </a:p>
        </p:txBody>
      </p:sp>
      <p:pic>
        <p:nvPicPr>
          <p:cNvPr id="7" name="autopilot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06727" y="1600200"/>
            <a:ext cx="8778240" cy="49377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