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  <a:latin typeface="Helvetica Neue"/>
              </a:rPr>
              <a:t>BETA FUND × EVERMIND  ·  NEXT-GEN INFRASTRUCTURE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E8EAF2"/>
                </a:solidFill>
                <a:latin typeface="Helvetica Neue"/>
              </a:rPr>
              <a:t>Context Autopilot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DD4A7"/>
                </a:solidFill>
                <a:latin typeface="Helvetica Neue"/>
              </a:rPr>
              <a:t>William Chen · Touchdown Labs — vendor-neutral inference-optimization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8EAF2"/>
                </a:solidFill>
                <a:latin typeface="Helvetica Neue"/>
              </a:rPr>
              <a:t>What I'm building: a local-first context engine — index ANY folder (code, docs, notes, projects) into reusable structured memory that Hermes, OpenClaw, or any local agent loads instead of rediscovering it every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5212080" cy="219456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FF7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201168" rIns="1828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7849"/>
                </a:solidFill>
                <a:latin typeface="Helvetica Neue"/>
              </a:rPr>
              <a:t>The problem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EAF2"/>
                </a:solidFill>
                <a:latin typeface="Helvetica Neue"/>
              </a:rPr>
              <a:t>Local agents (Hermes, OpenClaw, Claude Code) rediscover your project every task — code, docs, notes — burning tokens reloading what they already saw (≈90K to reload a 359 KB project).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520440"/>
            <a:ext cx="5212080" cy="219456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2DD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201168" rIns="1828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DD4A7"/>
                </a:solidFill>
                <a:latin typeface="Helvetica Neue"/>
              </a:rPr>
              <a:t>The solution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EAF2"/>
                </a:solidFill>
                <a:latin typeface="Helvetica Neue"/>
              </a:rPr>
              <a:t>Index it once into a reusable SKILL.md + DAG map. Any local agent reuses it across tasks; a small MLX model does the cheap work, frontier only for the hard step — ~99% fewer tokens.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AA0B6"/>
                </a:solidFill>
                <a:latin typeface="Helvetica Neue"/>
              </a:rPr>
              <a:t>github.com/OCWC22/context-autopilot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0B6"/>
                </a:solidFill>
              </a:rPr>
              <a:t>EverMind + Butterbase: LIVE  ·  app_b197i2548pk2  ·  build0530</a:t>
            </a:r>
            <a:r>
              <a:rPr sz="1000">
                <a:solidFill>
                  <a:srgbClr val="9AA0B6"/>
                </a:solidFill>
              </a:rPr>
              <a:t>       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D4A7"/>
                </a:solidFill>
                <a:latin typeface="Helvetica Neue"/>
              </a:rPr>
              <a:t>THE FULL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E8EAF2"/>
                </a:solidFill>
                <a:latin typeface="Helvetica Neue"/>
              </a:rPr>
              <a:t>How SFT, RL, local AI &amp; MLX fit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0B6"/>
                </a:solidFill>
                <a:latin typeface="Helvetica Neue"/>
              </a:rPr>
              <a:t>Goal: cut frontier-model calls &amp; cost while preserving task success — a coding model that learns your repo and style from your own traces.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D4A7"/>
                </a:solidFill>
                <a:latin typeface="Helvetica Neue"/>
              </a:rPr>
              <a:t>OFFLINE — build your personal model (cheap, on-device)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2457450" cy="11887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2DD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DD4A7"/>
                </a:solidFill>
                <a:latin typeface="Helvetica Neue"/>
              </a:rPr>
              <a:t>Your traces + repo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E8EAF2"/>
                </a:solidFill>
                <a:latin typeface="Helvetica Neue"/>
              </a:rPr>
              <a:t>Claude Code / Codex sessions, accepted diffs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8950" y="3017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9AA0B6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2606040"/>
            <a:ext cx="2457450" cy="11887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4A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4AA8FF"/>
                </a:solidFill>
                <a:latin typeface="Helvetica Neue"/>
              </a:rPr>
              <a:t>SFT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E8EAF2"/>
                </a:solidFill>
                <a:latin typeface="Helvetica Neue"/>
              </a:rPr>
              <a:t>distill GLM-5.1 (teacher) →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017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9AA0B6"/>
                </a:solidFill>
                <a:latin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0" y="2606040"/>
            <a:ext cx="2457450" cy="11887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A78BFA"/>
                </a:solidFill>
                <a:latin typeface="Helvetica Neue"/>
              </a:rPr>
              <a:t>RL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E8EAF2"/>
                </a:solidFill>
                <a:latin typeface="Helvetica Neue"/>
              </a:rPr>
              <a:t>verifiable rewards (GRPO): tests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6810" y="3017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9AA0B6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5430" y="2606040"/>
            <a:ext cx="2457450" cy="11887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FF7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7849"/>
                </a:solidFill>
                <a:latin typeface="Helvetica Neue"/>
              </a:rPr>
              <a:t>MLX model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E8EAF2"/>
                </a:solidFill>
                <a:latin typeface="Helvetica Neue"/>
              </a:rPr>
              <a:t>personal coder · 16 GB Mac · 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D4A7"/>
                </a:solidFill>
                <a:latin typeface="Helvetica Neue"/>
              </a:rPr>
              <a:t>ONLINE — every task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3413759" cy="11887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2DD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DD4A7"/>
                </a:solidFill>
                <a:latin typeface="Helvetica Neue"/>
              </a:rPr>
              <a:t>Coding task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E8EAF2"/>
                </a:solidFill>
                <a:latin typeface="Helvetica Neue"/>
              </a:rPr>
              <a:t>question / fix / 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5260" y="4937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9AA0B6"/>
                </a:solidFill>
                <a:latin typeface="Helvetica Neue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3879" y="4526280"/>
            <a:ext cx="3413759" cy="11887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4A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4AA8FF"/>
                </a:solidFill>
                <a:latin typeface="Helvetica Neue"/>
              </a:rPr>
              <a:t>Local context + subagents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E8EAF2"/>
                </a:solidFill>
                <a:latin typeface="Helvetica Neue"/>
              </a:rPr>
              <a:t>$0 DAG / SKILL.md + RLM — runs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499" y="4937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9AA0B6"/>
                </a:solidFill>
                <a:latin typeface="Helvetica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9119" y="4526280"/>
            <a:ext cx="3413759" cy="11887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A78BFA"/>
                </a:solidFill>
                <a:latin typeface="Helvetica Neue"/>
              </a:rPr>
              <a:t>Frontier only when hard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E8EAF2"/>
                </a:solidFill>
                <a:latin typeface="Helvetica Neue"/>
              </a:rPr>
              <a:t>escalate to Claude / Codex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AA0B6"/>
                </a:solidFill>
                <a:latin typeface="Helvetica Neue"/>
              </a:rPr>
              <a:t>Substrate:  EverMind = long-term memory   ·   Butterbase = state / backend   ·   eval harness = the proof (−98.7% tokens)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0B6"/>
                </a:solidFill>
              </a:rPr>
              <a:t>EverMind + Butterbase: LIVE  ·  app_b197i2548pk2  ·  build0530</a:t>
            </a:r>
            <a:r>
              <a:rPr sz="1000">
                <a:solidFill>
                  <a:srgbClr val="9AA0B6"/>
                </a:solidFill>
              </a:rPr>
              <a:t>       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78BFA"/>
                </a:solidFill>
                <a:latin typeface="Helvetica Neue"/>
              </a:rPr>
              <a:t>SPONSORS — HOW IT CONNECTS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8EAF2"/>
                </a:solidFill>
                <a:latin typeface="Helvetica Neue"/>
              </a:rPr>
              <a:t>Local source of truth × cloud memory × durable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440680" cy="320040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201168" rIns="1828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  <a:latin typeface="Helvetica Neue"/>
              </a:rPr>
              <a:t>EverMind / EverOS — long-term memory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8EAF2"/>
                </a:solidFill>
                <a:latin typeface="Helvetica Neue"/>
              </a:rPr>
              <a:t>We EXTEND it with a LOCAL source of truth: the $0 index keeps your current files, structure &amp; decisions fresh and deterministic, on-device.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EAF2"/>
                </a:solidFill>
                <a:latin typeface="Helvetica Neue"/>
              </a:rPr>
              <a:t>Those traces flow into EverMind, so memory is both fresh (local) and persistent across sessions — long-context personal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874519"/>
            <a:ext cx="5440680" cy="320040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4A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201168" rIns="1828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AA8FF"/>
                </a:solidFill>
                <a:latin typeface="Helvetica Neue"/>
              </a:rPr>
              <a:t>Butterbase — state &amp; backend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8EAF2"/>
                </a:solidFill>
                <a:latin typeface="Helvetica Neue"/>
              </a:rPr>
              <a:t>We CONNECT via the Data API: projects, task state, tool-call traces, eval results &amp; artifacts persist as structured rows (Postgres + auth + storage).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EAF2"/>
                </a:solidFill>
                <a:latin typeface="Helvetica Neue"/>
              </a:rPr>
              <a:t>Agents read/write durable state instead of holding it in context. Live: app app_b197i2548pk2.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DD4A7"/>
                </a:solidFill>
                <a:latin typeface="Helvetica Neue"/>
              </a:rPr>
              <a:t>Local = source of truth (now)   ·   EverMind = memory (over time)   ·   Butterbase = state (durable)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0B6"/>
                </a:solidFill>
              </a:rPr>
              <a:t>EverMind + Butterbase: LIVE  ·  app_b197i2548pk2  ·  build0530</a:t>
            </a:r>
            <a:r>
              <a:rPr sz="1000">
                <a:solidFill>
                  <a:srgbClr val="9AA0B6"/>
                </a:solidFill>
              </a:rPr>
              <a:t>       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D4A7"/>
                </a:solidFill>
                <a:latin typeface="Helvetica Neue"/>
              </a:rPr>
              <a:t>MODULAR — NOT JUST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2"/>
                </a:solidFill>
                <a:latin typeface="Helvetica Neue"/>
              </a:rPr>
              <a:t>Index anything on your computer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0B6"/>
                </a:solidFill>
                <a:latin typeface="Helvetica Neue"/>
              </a:rPr>
              <a:t>One CLI turns any folder into reusable structured context (SKILL.md + index) — agents load it instead of re-reading from scratch.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3447288" cy="9601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2DD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DD4A7"/>
                </a:solidFill>
                <a:latin typeface="Helvetica Neue"/>
              </a:rPr>
              <a:t>Codebases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286000"/>
            <a:ext cx="3447288" cy="9601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4A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4AA8FF"/>
                </a:solidFill>
                <a:latin typeface="Helvetica Neue"/>
              </a:rPr>
              <a:t>Docs &amp;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2286000"/>
            <a:ext cx="3447288" cy="9601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A78BFA"/>
                </a:solidFill>
                <a:latin typeface="Helvetica Neue"/>
              </a:rPr>
              <a:t>Sales materials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0440"/>
            <a:ext cx="3447288" cy="9601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FF7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7849"/>
                </a:solidFill>
                <a:latin typeface="Helvetica Neue"/>
              </a:rPr>
              <a:t>Marketing assets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3520440"/>
            <a:ext cx="3447288" cy="9601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2DD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DD4A7"/>
                </a:solidFill>
                <a:latin typeface="Helvetica Neue"/>
              </a:rPr>
              <a:t>Customer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3520440"/>
            <a:ext cx="3447288" cy="96012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4A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4AA8FF"/>
                </a:solidFill>
                <a:latin typeface="Helvetica Neue"/>
              </a:rPr>
              <a:t>Project folders &amp;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EAF2"/>
                </a:solidFill>
                <a:latin typeface="Helvetica Neue"/>
              </a:rPr>
              <a:t>Hermes · OpenClaw · Claude Code · any local agent reuse the SAME structured context across tasks — instead of rediscovering everything from scratch every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0B6"/>
                </a:solidFill>
              </a:rPr>
              <a:t>EverMind + Butterbase: LIVE  ·  app_b197i2548pk2  ·  build0530</a:t>
            </a:r>
            <a:r>
              <a:rPr sz="1000">
                <a:solidFill>
                  <a:srgbClr val="9AA0B6"/>
                </a:solidFill>
              </a:rPr>
              <a:t>       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D4A7"/>
                </a:solidFill>
                <a:latin typeface="Helvetica Neue"/>
              </a:rPr>
              <a:t>THE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2"/>
                </a:solidFill>
                <a:latin typeface="Helvetica Neue"/>
              </a:rPr>
              <a:t>A $0 local map Claude reads instead of the whole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064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2DD4A7"/>
                </a:solidFill>
                <a:latin typeface="Helvetica Neue"/>
              </a:rPr>
              <a:t>SKILL.md + DAG  —  </a:t>
            </a:r>
            <a:r>
              <a:rPr sz="1700">
                <a:solidFill>
                  <a:srgbClr val="E8EAF2"/>
                </a:solidFill>
              </a:rPr>
              <a:t>commit-versioned: every file, every function, the call graph — refreshed on each change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4AA8FF"/>
                </a:solidFill>
                <a:latin typeface="Helvetica Neue"/>
              </a:rPr>
              <a:t>Selective retrieval  —  </a:t>
            </a:r>
            <a:r>
              <a:rPr sz="1700">
                <a:solidFill>
                  <a:srgbClr val="E8EAF2"/>
                </a:solidFill>
              </a:rPr>
              <a:t>send only the relevant slice, compressed (8.8× on a real query)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A78BFA"/>
                </a:solidFill>
                <a:latin typeface="Helvetica Neue"/>
              </a:rPr>
              <a:t>$0 + local  —  </a:t>
            </a:r>
            <a:r>
              <a:rPr sz="1700">
                <a:solidFill>
                  <a:srgbClr val="E8EAF2"/>
                </a:solidFill>
              </a:rPr>
              <a:t>the index runs on your machine for nothing; frontier is used only for the hard step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FF7849"/>
                </a:solidFill>
                <a:latin typeface="Helvetica Neue"/>
              </a:rPr>
              <a:t>Sponsors  —  </a:t>
            </a:r>
            <a:r>
              <a:rPr sz="1700">
                <a:solidFill>
                  <a:srgbClr val="E8EAF2"/>
                </a:solidFill>
              </a:rPr>
              <a:t>EverMind = long-term memory (prior decisions) · Butterbase = state/backend + judging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0B6"/>
                </a:solidFill>
              </a:rPr>
              <a:t>EverMind + Butterbase: LIVE  ·  app_b197i2548pk2  ·  build0530</a:t>
            </a:r>
            <a:r>
              <a:rPr sz="1000">
                <a:solidFill>
                  <a:srgbClr val="9AA0B6"/>
                </a:solidFill>
              </a:rPr>
              <a:t>       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D4A7"/>
                </a:solidFill>
                <a:latin typeface="Helvetica Neue"/>
              </a:rPr>
              <a:t>DEMO FLOW  (what I'll show live)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2"/>
                </a:solidFill>
                <a:latin typeface="Helvetica Neue"/>
              </a:rPr>
              <a:t>Watch the token meter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FF7849"/>
                </a:solidFill>
                <a:latin typeface="Helvetica Neue"/>
              </a:rPr>
              <a:t>1.  </a:t>
            </a:r>
            <a:r>
              <a:rPr sz="1800">
                <a:solidFill>
                  <a:srgbClr val="E8EAF2"/>
                </a:solidFill>
              </a:rPr>
              <a:t>Ask a codebase question the normal way → Claude Code explores files (big token count).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2DD4A7"/>
                </a:solidFill>
                <a:latin typeface="Helvetica Neue"/>
              </a:rPr>
              <a:t>2.  </a:t>
            </a:r>
            <a:r>
              <a:rPr sz="1800">
                <a:solidFill>
                  <a:srgbClr val="E8EAF2"/>
                </a:solidFill>
              </a:rPr>
              <a:t>Run  `autopilot index`  → open .autopilot/SKILL.md + ARCHITECTURE.md (the DAG).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4AA8FF"/>
                </a:solidFill>
                <a:latin typeface="Helvetica Neue"/>
              </a:rPr>
              <a:t>3.  </a:t>
            </a:r>
            <a:r>
              <a:rPr sz="1800">
                <a:solidFill>
                  <a:srgbClr val="E8EAF2"/>
                </a:solidFill>
              </a:rPr>
              <a:t>Ask again with that saved context → answer from the right slice (tiny token count).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A78BFA"/>
                </a:solidFill>
                <a:latin typeface="Helvetica Neue"/>
              </a:rPr>
              <a:t>4.  </a:t>
            </a:r>
            <a:r>
              <a:rPr sz="1800">
                <a:solidFill>
                  <a:srgbClr val="E8EAF2"/>
                </a:solidFill>
              </a:rPr>
              <a:t>Compare:  `autopilot eval`  → 11,947 → 299 tokens, −98.7%, tests still pass.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0B6"/>
                </a:solidFill>
              </a:rPr>
              <a:t>EverMind + Butterbase: LIVE  ·  app_b197i2548pk2  ·  build0530</a:t>
            </a:r>
            <a:r>
              <a:rPr sz="1000">
                <a:solidFill>
                  <a:srgbClr val="9AA0B6"/>
                </a:solidFill>
              </a:rPr>
              <a:t>       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D4A7"/>
                </a:solidFill>
                <a:latin typeface="Helvetica Neue"/>
              </a:rPr>
              <a:t>PROOF  ·  autopilot eval (measured)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2"/>
                </a:solidFill>
                <a:latin typeface="Helvetica Neue"/>
              </a:rPr>
              <a:t>Same task. Same result. 98.7% fewer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697480" cy="173736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2DD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2DD4A7"/>
                </a:solidFill>
                <a:latin typeface="Helvetica Neue"/>
              </a:rPr>
              <a:t>−98.7%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AA0B6"/>
                </a:solidFill>
                <a:latin typeface="Helvetica Neue"/>
              </a:rPr>
              <a:t>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20240"/>
            <a:ext cx="2697480" cy="173736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4A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4AA8FF"/>
                </a:solidFill>
                <a:latin typeface="Helvetica Neue"/>
              </a:rPr>
              <a:t>−98%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AA0B6"/>
                </a:solidFill>
                <a:latin typeface="Helvetica Neue"/>
              </a:rPr>
              <a:t>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697480" cy="173736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A78BFA"/>
                </a:solidFill>
                <a:latin typeface="Helvetica Neue"/>
              </a:rPr>
              <a:t>−94%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AA0B6"/>
                </a:solidFill>
                <a:latin typeface="Helvetica Neue"/>
              </a:rPr>
              <a:t>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920240"/>
            <a:ext cx="2697480" cy="1737360"/>
          </a:xfrm>
          <a:prstGeom prst="roundRect">
            <a:avLst/>
          </a:prstGeom>
          <a:solidFill>
            <a:srgbClr val="10131E"/>
          </a:solidFill>
          <a:ln w="15875">
            <a:solidFill>
              <a:srgbClr val="FF7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7849"/>
                </a:solidFill>
                <a:latin typeface="Helvetica Neue"/>
              </a:rPr>
              <a:t>+0.32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AA0B6"/>
                </a:solidFill>
                <a:latin typeface="Helvetica Neue"/>
              </a:rPr>
              <a:t>retrieval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110642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E8EAF2"/>
                </a:solidFill>
                <a:latin typeface="Helvetica Neue"/>
              </a:rPr>
              <a:t>11,947 → 299 tokens · 1 frontier call avoided · task success preserved (tests pass)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2DD4A7"/>
                </a:solidFill>
                <a:latin typeface="Helvetica Neue"/>
              </a:rPr>
              <a:t>Real public repo (psf/requests): whole repo ≈147,794 tokens → ~1,025 for the right answer — 57×, −99.3%.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9AA0B6"/>
                </a:solidFill>
                <a:latin typeface="Helvetica Neue"/>
              </a:rPr>
              <a:t>Live now: Butterbase app app_b197i2548pk2 (real rows) · EverMind memory written · 27/27 tests.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DD4A7"/>
                </a:solidFill>
                <a:latin typeface="Helvetica Neue"/>
              </a:rPr>
              <a:t>Reproduce on stage:  autopilot index  ·  autopilot eval  ·  bash demo/run_demo.sh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0B6"/>
                </a:solidFill>
              </a:rPr>
              <a:t>EverMind + Butterbase: LIVE  ·  app_b197i2548pk2  ·  build0530</a:t>
            </a:r>
            <a:r>
              <a:rPr sz="1000">
                <a:solidFill>
                  <a:srgbClr val="9AA0B6"/>
                </a:solidFill>
              </a:rPr>
              <a:t>       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D4A7"/>
                </a:solidFill>
                <a:latin typeface="Helvetica Neue"/>
              </a:rPr>
              <a:t>DEMO  ·  the token drop in 30s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8EAF2"/>
                </a:solidFill>
                <a:latin typeface="Helvetica Neue"/>
              </a:rPr>
              <a:t>Same task, two ways — watch tokens go 11,947 → 299</a:t>
            </a:r>
          </a:p>
        </p:txBody>
      </p:sp>
      <p:pic>
        <p:nvPicPr>
          <p:cNvPr id="7" name="autopilot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06727" y="1600200"/>
            <a:ext cx="8778240" cy="4937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